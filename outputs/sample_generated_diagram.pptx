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64592"/>
            <a:ext cx="11859768" cy="6510528"/>
          </a:xfrm>
          <a:prstGeom prst="roundRect">
            <a:avLst/>
          </a:prstGeom>
          <a:noFill/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F3A5F"/>
                </a:solidFill>
                <a:latin typeface="Aptos Display"/>
              </a:defRPr>
            </a:pPr>
            <a:r>
              <a:t>PHARMACY, NURSING AND HOSTEL BLOCK - WATER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8488" y="2386584"/>
            <a:ext cx="1645919" cy="473201"/>
          </a:xfrm>
          <a:prstGeom prst="roundRect">
            <a:avLst/>
          </a:prstGeom>
          <a:solidFill>
            <a:srgbClr val="D6EDF8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Medical College Bore</a:t>
            </a:r>
          </a:p>
          <a:p>
            <a:pPr algn="ctr">
              <a:defRPr sz="750">
                <a:solidFill>
                  <a:srgbClr val="4B4B4B"/>
                </a:solidFill>
                <a:latin typeface="Aptos"/>
              </a:defRPr>
            </a:pPr>
            <a:r>
              <a:t>2 inch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93591" y="1965960"/>
            <a:ext cx="1536192" cy="473201"/>
          </a:xfrm>
          <a:prstGeom prst="roundRect">
            <a:avLst/>
          </a:prstGeom>
          <a:solidFill>
            <a:srgbClr val="D6EDF8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H Block Bore</a:t>
            </a:r>
          </a:p>
          <a:p>
            <a:pPr algn="ctr">
              <a:defRPr sz="750">
                <a:solidFill>
                  <a:srgbClr val="4B4B4B"/>
                </a:solidFill>
                <a:latin typeface="Aptos"/>
              </a:defRPr>
            </a:pPr>
            <a:r>
              <a:t>1.5 inch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68696" y="1860804"/>
            <a:ext cx="1536192" cy="473201"/>
          </a:xfrm>
          <a:prstGeom prst="roundRect">
            <a:avLst/>
          </a:prstGeom>
          <a:solidFill>
            <a:srgbClr val="D6EDF8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J Block Bore</a:t>
            </a:r>
          </a:p>
          <a:p>
            <a:pPr algn="ctr">
              <a:defRPr sz="750">
                <a:solidFill>
                  <a:srgbClr val="4B4B4B"/>
                </a:solidFill>
                <a:latin typeface="Aptos"/>
              </a:defRPr>
            </a:pPr>
            <a:r>
              <a:t>2 inch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3175254"/>
            <a:ext cx="2194560" cy="683514"/>
          </a:xfrm>
          <a:prstGeom prst="roundRect">
            <a:avLst/>
          </a:prstGeom>
          <a:solidFill>
            <a:srgbClr val="DCF2EB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Raw Water Sump</a:t>
            </a:r>
          </a:p>
          <a:p>
            <a:pPr algn="ctr">
              <a:defRPr sz="750">
                <a:solidFill>
                  <a:srgbClr val="4B4B4B"/>
                </a:solidFill>
                <a:latin typeface="Aptos"/>
              </a:defRPr>
            </a:pPr>
            <a:r>
              <a:t>Bore water</a:t>
            </a:r>
          </a:p>
          <a:p>
            <a:pPr algn="ctr">
              <a:defRPr sz="750">
                <a:solidFill>
                  <a:srgbClr val="4B4B4B"/>
                </a:solidFill>
                <a:latin typeface="Aptos"/>
              </a:defRPr>
            </a:pPr>
            <a:r>
              <a:t>Approx. 2.75 lakh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75703" y="3017520"/>
            <a:ext cx="877824" cy="438912"/>
          </a:xfrm>
          <a:prstGeom prst="roundRect">
            <a:avLst/>
          </a:prstGeom>
          <a:solidFill>
            <a:srgbClr val="EBE1F8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Motor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63256" y="3017520"/>
            <a:ext cx="877824" cy="438912"/>
          </a:xfrm>
          <a:prstGeom prst="roundRect">
            <a:avLst/>
          </a:prstGeom>
          <a:solidFill>
            <a:srgbClr val="EBE1F8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Motor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0808" y="3017520"/>
            <a:ext cx="877824" cy="438912"/>
          </a:xfrm>
          <a:prstGeom prst="roundRect">
            <a:avLst/>
          </a:prstGeom>
          <a:solidFill>
            <a:srgbClr val="EBE1F8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Motor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4542281"/>
            <a:ext cx="1536192" cy="525780"/>
          </a:xfrm>
          <a:prstGeom prst="roundRect">
            <a:avLst/>
          </a:prstGeom>
          <a:solidFill>
            <a:srgbClr val="FFEFC4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Nursing OHT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5278374"/>
            <a:ext cx="1755648" cy="578358"/>
          </a:xfrm>
          <a:prstGeom prst="roundRect">
            <a:avLst/>
          </a:prstGeom>
          <a:solidFill>
            <a:srgbClr val="DCF2EB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Nursing Sump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4857750"/>
            <a:ext cx="1755648" cy="578358"/>
          </a:xfrm>
          <a:prstGeom prst="roundRect">
            <a:avLst/>
          </a:prstGeom>
          <a:solidFill>
            <a:srgbClr val="DCF2EB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H Block Sump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34071" y="4489704"/>
            <a:ext cx="1536192" cy="473201"/>
          </a:xfrm>
          <a:prstGeom prst="roundRect">
            <a:avLst/>
          </a:prstGeom>
          <a:solidFill>
            <a:srgbClr val="D6EDF8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Pharmacy Bore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3" y="4857750"/>
            <a:ext cx="1865376" cy="578358"/>
          </a:xfrm>
          <a:prstGeom prst="roundRect">
            <a:avLst/>
          </a:prstGeom>
          <a:solidFill>
            <a:srgbClr val="DCF2EB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Pharmacy Sump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2711" y="1860804"/>
            <a:ext cx="1536192" cy="525780"/>
          </a:xfrm>
          <a:prstGeom prst="roundRect">
            <a:avLst/>
          </a:prstGeom>
          <a:solidFill>
            <a:srgbClr val="FFEFC4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J Block OHT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28632" y="2491739"/>
            <a:ext cx="1536192" cy="525780"/>
          </a:xfrm>
          <a:prstGeom prst="roundRect">
            <a:avLst/>
          </a:prstGeom>
          <a:solidFill>
            <a:srgbClr val="FFEFC4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K Block OHT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67544" y="4069079"/>
            <a:ext cx="1536192" cy="525780"/>
          </a:xfrm>
          <a:prstGeom prst="roundRect">
            <a:avLst/>
          </a:prstGeom>
          <a:solidFill>
            <a:srgbClr val="FFEFC4"/>
          </a:solidFill>
          <a:ln w="16510">
            <a:solidFill>
              <a:srgbClr val="32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43246"/>
                </a:solidFill>
                <a:latin typeface="Aptos"/>
              </a:defRPr>
            </a:pPr>
            <a:r>
              <a:t>Pharmacy OHT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41447" y="2623184"/>
            <a:ext cx="3017521" cy="893827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30167" y="2905505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78412D"/>
                </a:solidFill>
              </a:defRPr>
            </a:pPr>
            <a:r>
              <a:t>2 inch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61687" y="2202560"/>
            <a:ext cx="1097281" cy="1314451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90287" y="2695193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78412D"/>
                </a:solidFill>
              </a:defRPr>
            </a:pPr>
            <a:r>
              <a:t>1.5 inch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458968" y="2097404"/>
            <a:ext cx="877824" cy="1419607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577840" y="2642615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78412D"/>
                </a:solidFill>
              </a:defRPr>
            </a:pPr>
            <a:r>
              <a:t>2 inch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458968" y="3236976"/>
            <a:ext cx="1755647" cy="280035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58968" y="3236976"/>
            <a:ext cx="2743200" cy="280035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458968" y="3236976"/>
            <a:ext cx="3730752" cy="280035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276856" y="3236976"/>
            <a:ext cx="4937759" cy="1568195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76856" y="4805171"/>
            <a:ext cx="1975104" cy="762382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44368" y="502177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78412D"/>
                </a:solidFill>
              </a:defRPr>
            </a:pPr>
            <a:r>
              <a:t>2 inch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556248" y="3236976"/>
            <a:ext cx="1645920" cy="1909953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8750807" y="2123694"/>
            <a:ext cx="438913" cy="1113282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189720" y="2754629"/>
            <a:ext cx="1207008" cy="482347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02167" y="4726304"/>
            <a:ext cx="1700784" cy="420625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902951" y="4331969"/>
            <a:ext cx="932689" cy="814960"/>
          </a:xfrm>
          <a:prstGeom prst="line">
            <a:avLst/>
          </a:prstGeom>
          <a:ln w="38100">
            <a:solidFill>
              <a:srgbClr val="16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80">
                <a:solidFill>
                  <a:srgbClr val="646464"/>
                </a:solidFill>
              </a:defRPr>
            </a:pPr>
            <a:r>
              <a:t>AI-generated draft - verify pipe routes, capacities and motor mappings before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